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부정</c:v>
                </c:pt>
              </c:strCache>
            </c:strRef>
          </c:tx>
          <c:spPr>
            <a:solidFill>
              <a:srgbClr val="C255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의료진 응대</c:v>
                  </c:pt>
                  <c:pt idx="1">
                    <c:v>직원 응대</c:v>
                  </c:pt>
                  <c:pt idx="2">
                    <c:v>진료 효과</c:v>
                  </c:pt>
                  <c:pt idx="3">
                    <c:v>대기 시간</c:v>
                  </c:pt>
                  <c:pt idx="4">
                    <c:v>시설/환경</c:v>
                  </c:pt>
                  <c:pt idx="5">
                    <c:v>비용/보험</c:v>
                  </c:pt>
                  <c:pt idx="6">
                    <c:v>예약/접수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25</c:v>
                </c:pt>
                <c:pt idx="2">
                  <c:v>10</c:v>
                </c:pt>
                <c:pt idx="3">
                  <c:v>40</c:v>
                </c:pt>
                <c:pt idx="4">
                  <c:v>10</c:v>
                </c:pt>
                <c:pt idx="5">
                  <c:v>25</c:v>
                </c:pt>
                <c:pt idx="6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중립</c:v>
                </c:pt>
              </c:strCache>
            </c:strRef>
          </c:tx>
          <c:spPr>
            <a:solidFill>
              <a:srgbClr val="D69E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의료진 응대</c:v>
                  </c:pt>
                  <c:pt idx="1">
                    <c:v>직원 응대</c:v>
                  </c:pt>
                  <c:pt idx="2">
                    <c:v>진료 효과</c:v>
                  </c:pt>
                  <c:pt idx="3">
                    <c:v>대기 시간</c:v>
                  </c:pt>
                  <c:pt idx="4">
                    <c:v>시설/환경</c:v>
                  </c:pt>
                  <c:pt idx="5">
                    <c:v>비용/보험</c:v>
                  </c:pt>
                  <c:pt idx="6">
                    <c:v>예약/접수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</c:v>
                </c:pt>
                <c:pt idx="1">
                  <c:v>25</c:v>
                </c:pt>
                <c:pt idx="2">
                  <c:v>25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  <c:pt idx="6">
                  <c:v>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긍정</c:v>
                </c:pt>
              </c:strCache>
            </c:strRef>
          </c:tx>
          <c:spPr>
            <a:solidFill>
              <a:srgbClr val="5C8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의료진 응대</c:v>
                  </c:pt>
                  <c:pt idx="1">
                    <c:v>직원 응대</c:v>
                  </c:pt>
                  <c:pt idx="2">
                    <c:v>진료 효과</c:v>
                  </c:pt>
                  <c:pt idx="3">
                    <c:v>대기 시간</c:v>
                  </c:pt>
                  <c:pt idx="4">
                    <c:v>시설/환경</c:v>
                  </c:pt>
                  <c:pt idx="5">
                    <c:v>비용/보험</c:v>
                  </c:pt>
                  <c:pt idx="6">
                    <c:v>예약/접수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75</c:v>
                </c:pt>
                <c:pt idx="1">
                  <c:v>50</c:v>
                </c:pt>
                <c:pt idx="2">
                  <c:v>65</c:v>
                </c:pt>
                <c:pt idx="3">
                  <c:v>30</c:v>
                </c:pt>
                <c:pt idx="4">
                  <c:v>60</c:v>
                </c:pt>
                <c:pt idx="5">
                  <c:v>45</c:v>
                </c:pt>
                <c:pt idx="6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1097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 ·  CREATED FOR SEMA CONSULTING APPLICATION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ABC 정형외과의원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환자 후기 100건 AI 분류·분석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914400" y="3657600"/>
            <a:ext cx="1097280" cy="0"/>
          </a:xfrm>
          <a:prstGeom prst="line">
            <a:avLst/>
          </a:prstGeom>
          <a:noFill/>
          <a:ln w="38100">
            <a:solidFill>
              <a:srgbClr val="84B59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모듈 정성·정량 분석 + 인사이트 보고서 샘플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251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세마컨설팅 CS 연구원 지원 자료로,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환자 후기 데이터의 AI 기반 분류·분석 및 인사이트 도출 흐름을 12장에 담았습니다.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지원자 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윤상훈  ·  Sanghoon Yoon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지원 직무 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병원경영 CS 연구원 (신입/경력)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작성일 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ABC 정형외과 환자 후기 AI 분류·분석  ·  윤상훈  ·  Sample for SEMA Consulting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WHY THIS SAMPLE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샘플의 목적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신입 지원자가 입사 전 기여 가능 영역을 미리 시연한 결과물입니다.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737360" y="23317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직무 적합성 시연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7889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연구원의 핵심 업무 — 정성/정량 자료 분석, 보고서 작성, CS 모듈 데이터 인사이트 도출 — 흐름을 가상 시나리오로 직접 수행했습니다.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737360" y="36576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분류 가능성 검토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37360" y="41148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세마컨설팅의 PEI 솔루션과 연결 가능한 환자후기 분류·분석 흐름을 외부인의 입장에서 가상 데이터로 구성해본 결과로, 실제 데이터와 결합 시 가능한 방향을 함께 짚었습니다.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1737360" y="4983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정직한 한계 명시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54406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분석의 한계(가상 데이터, 표본 편향, 단일 시점)를 별도 슬라이드로 분리해 신입 연구원으로서 검증과 한계 인지의 자세를 함께 보였습니다.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ABC 정형외과 환자 후기 AI 분류·분석  ·  윤상훈  ·  Sample for SEMA Consulting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SAMPLE SETUP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ABC 정형외과 시나리오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세마컨설팅 컨설팅 영역과 연결되는 중소 정형외과 의원을 가상 설정했습니다.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486400" cy="4023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 설정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병원 유형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중소 정형외과 의원 (개원 5년차)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 ·  규모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강북권 가상 입지  ·  의료진 4명 + 직원 12명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진료 영역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척추  ·  관절  ·  도수치료  ·  체외충격파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환자 규모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일평균 외래 80명  ·  도수치료 일평균 25명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목표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후기 데이터로 CS 영역 우선순위 도출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5486400" cy="4023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3796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후기 데이터 (가상)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7889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표본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환자 후기 100건  (가상 생성)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기간 가정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2025.01 ~ 2025.06  (6개월)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분포 가정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플레이스  40건  ·  카카오맵  30건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병원 자체 홈페이지 후기  30건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도구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4.7  ·  프롬프트 기반 분류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 20건 수동 라벨링  ·  일치율 측정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ABC 정형외과 환자 후기 AI 분류·분석  ·  윤상훈  ·  Sample for SEMA Consulting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분류 방법론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7개 카테고리 × 3단계 감성 분류 + 무작위 표본 수동 검증의 2단계 구조입니다.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743200" cy="32918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2560320"/>
            <a:ext cx="640080" cy="64008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정의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정형외과 환자 동선과 PEI 평가 항목을 참고해 7개 분류 기준 사전 정의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2743200" cy="32918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57600" y="2560320"/>
            <a:ext cx="640080" cy="64008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6576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5760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1차 분류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38404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Claude에 후기 1건씩 전달, 카테고리 + 감성(부정/중립/긍정) 동시 라벨링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2743200" cy="32918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583680" y="2560320"/>
            <a:ext cx="640080" cy="64008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8368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8368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검증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38404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무작위 20건 수동 라벨링 후 AI 결과와 일치율 측정 (목표 85%+)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35440" y="2286000"/>
            <a:ext cx="2743200" cy="32918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509760" y="2560320"/>
            <a:ext cx="640080" cy="64008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5097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50976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인사이트 도출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09760" y="38404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카테고리별 부정 비율, 키워드 빈도, 후기 간 동시 언급 패턴 3축 분석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3F5E68"/>
          </a:solidFill>
          <a:ln w="12700">
            <a:solidFill>
              <a:srgbClr val="3F5E6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" y="5760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본 샘플 결과 ·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AI 1차 분류와 수동 라벨링 일치율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88%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(카테고리 85% / 감성 90%, 20건 수동 검증)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ABC 정형외과 환자 후기 AI 분류·분석  ·  윤상훈  ·  Sample for SEMA Consulting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CLASSIFICATION 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7개 카테고리 × 감성 분포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100건 분류 결과 (가상). 카테고리별 부정 비율은 진료 효과·의료진 응대(10%) &lt; 직원 응대·비용/보험(25%) &lt; 대기 시간(40%) 순으로 커집니다.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286000"/>
          <a:ext cx="7772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2286000"/>
            <a:ext cx="3200400" cy="3931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73252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관찰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732520" y="283464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대기 시간이 가장 큰 부정 영역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부정 40%  ·  유일한 부정 우세 카테고리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의료진 vs 직원 응대 격차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부정 비율 10%  vs  25%  =  2.5배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진료 효과 자체는 만족도 높음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긍정 65%  ·  의료 본질은 강점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비용 영역에 잠재 리스크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도수치료비 언급이 부정 25%에 집중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ABC 정형외과 환자 후기 AI 분류·분석  ·  윤상훈  ·  Sample for SEMA Consulting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INSIGHT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부정 후기의 핵심은 "대기 시간"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 시간 부정 후기 40건을 다시 분석하면, 핵심 키워드가 4개 클러스터로 수렴합니다.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부정 후기 40건 키워드 분포  (가상 빈도)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6400800" cy="777240"/>
          </a:xfrm>
          <a:prstGeom prst="rect">
            <a:avLst/>
          </a:prstGeom>
          <a:solidFill>
            <a:srgbClr val="84B59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788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시간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27889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31920" y="278892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예약했는데 30분 이상 대기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6400800" cy="777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657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도수치료 대기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36576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11건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31920" y="36576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도수치료실 앞에서 또 대기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6400800" cy="777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526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수납/대기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45262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31920" y="45262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 후 수납까지 추가 대기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303520"/>
            <a:ext cx="6400800" cy="7772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5394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 부재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53949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4건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31920" y="53949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늦는지 설명이 없다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2286000"/>
            <a:ext cx="4572000" cy="3931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15200" y="2468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후기 (가상)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2880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680960" y="28803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10시인데 10시 40분에 들어갔어요. 예약을 왜 받는지 모르겠어요.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0" y="3931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680960" y="3931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도수치료가 좋긴 한데 매번 진료실 앞 + 치료실 앞 두 번 기다려요.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4983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680960" y="4983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늦어지는지 안내라도 한 마디 해주면 좋을 텐데, 그냥 기다리라고만…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ABC 정형외과 환자 후기 AI 분류·분석  ·  윤상훈  ·  Sample for SEMA Consulting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INSIGHT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의료진 vs 직원 응대 만족도 격차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병원 내 응대 만족도 격차는 신환 유입과 재방문 의향에 비대칭으로 영향을 줍니다.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577840" cy="3931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의료진 응대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5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부정 후기 비율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키워드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친절한 설명, 통증 원인 잘 짚어줌, 신뢰감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53492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 선생님이 아픈 부위 정확히 짚어주시고 설명도 잘 해주셨어요.</a:t>
            </a:r>
            <a:pPr indent="0" marL="0">
              <a:buNone/>
            </a:pPr>
            <a:r>
              <a:rPr lang="en-US" sz="18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2286000"/>
            <a:ext cx="5577840" cy="3931920"/>
          </a:xfrm>
          <a:prstGeom prst="rect">
            <a:avLst/>
          </a:prstGeom>
          <a:solidFill>
            <a:srgbClr val="F0F4F0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응대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3017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C25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640080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부정 후기 비율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키워드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4709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 무뚝뚝, 도수치료실 안내 부족, 통증 호소 무관심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53492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 직원이 너무 사무적이고, 아프다고 했는데 그냥 기다리라고만…</a:t>
            </a:r>
            <a:pPr indent="0" marL="0">
              <a:buNone/>
            </a:pPr>
            <a:r>
              <a:rPr lang="en-US" sz="18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6263640"/>
            <a:ext cx="11247120" cy="0"/>
          </a:xfrm>
          <a:prstGeom prst="rect">
            <a:avLst/>
          </a:prstGeom>
          <a:noFill/>
          <a:ln w="12700">
            <a:solidFill>
              <a:srgbClr val="84B59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ABC 정형외과 환자 후기 AI 분류·분석  ·  윤상훈  ·  Sample for SEMA Consulting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INSIGHT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재방문 의향 부정 후기에서 함께 나타난 패턴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100건 중 재방문 의향이 명시적으로 부정인 후기 18건을 다시 분석하면 패턴이 좁혀집니다.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029200" cy="3931920"/>
          </a:xfrm>
          <a:prstGeom prst="rect">
            <a:avLst/>
          </a:prstGeom>
          <a:solidFill>
            <a:srgbClr val="3F5E68"/>
          </a:solidFill>
          <a:ln w="12700">
            <a:solidFill>
              <a:srgbClr val="3F5E6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606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재방문 의향 부정 후기 18건의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0" dirty="0"/>
          </a:p>
        </p:txBody>
      </p:sp>
      <p:sp>
        <p:nvSpPr>
          <p:cNvPr id="8" name="Text 6"/>
          <p:cNvSpPr/>
          <p:nvPr/>
        </p:nvSpPr>
        <p:spPr>
          <a:xfrm>
            <a:off x="777240" y="4434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"대기 시간 + 직원 응대"를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800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동시에 부정적으로 언급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5669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(가상 데이터 기반 1차 추정)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2286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2697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 시간만 단독으로는 이탈 결정 요인이 약함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30632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대기 시간 부정 후기 22건 중 재방문 의향 부정은 4건(18%)에 그침. 대기 시간이 "단독 트리거"가 되는 경우는 적음.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3886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3886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 시간 + 직원 응대 결합 시 이탈 가속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2519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요소가 동시에 부정인 후기 13건 중 재방문 의향 부정은 12건. 직원의 안내·공감 부재가 대기 시간을 "무시당한 경험"으로 증폭.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5074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5074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1순위 개선 영역 = 직원 응대 표준화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54406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시스템 개선보다 직원의 "대기 안내 + 통증 호소 응대" 표준화가 단기 효과 가능성 높음. 매뉴얼 + 1회성 교육이 아닌 반복 코칭 필요.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ABC 정형외과 환자 후기 AI 분류·분석  ·  윤상훈  ·  Sample for SEMA Consulting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ACTION PROPOSAL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개선 우선순위 3가지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결과를 ABC 정형외과 원장님 의사결정 기준으로 옮긴다면 다음 우선순위가 자연스러워집니다.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3703320" cy="4023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2514600"/>
            <a:ext cx="914400" cy="320040"/>
          </a:xfrm>
          <a:prstGeom prst="rect">
            <a:avLst/>
          </a:prstGeom>
          <a:solidFill>
            <a:srgbClr val="C2554F"/>
          </a:solidFill>
          <a:ln w="12700">
            <a:solidFill>
              <a:srgbClr val="C2554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최우선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46120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직원 응대 표준 매뉴얼 + 반복 코칭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데스크·도수치료실 직원 대상 "대기 안내 + 통증 호소 응대" 표준 매뉴얼 제작. 1회 교육 후 분기별 코칭으로 반복 강화.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5486400"/>
            <a:ext cx="3154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56235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지표 — 재방문 의향 부정 후기 비율 변화 (3개월 추적)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2286000"/>
            <a:ext cx="3703320" cy="4023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26280" y="2514600"/>
            <a:ext cx="914400" cy="32004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2628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차순위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0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26280" y="30175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시스템 시간대별 한도 조정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6280" y="388620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오전·오후 피크 타임 예약 한도 재설계. 도수치료 예약과 진료 예약 사이 버퍼 타임 5분 확보로 "이중 대기" 해소.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5486400"/>
            <a:ext cx="3154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26280" y="56235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지표 — 대기 시간 부정 키워드 빈도 변화 (1~2개월 추적)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0" y="2286000"/>
            <a:ext cx="3703320" cy="4023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321040" y="2514600"/>
            <a:ext cx="914400" cy="3200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32104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835640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21040" y="30175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 모니터링 자동화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21040" y="388620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신규 후기를 AI로 자동 분류해 부정 후기 발생 즉시 원장·실장에게 알림. PEI 솔루션과 결합 시 모바일 환자경험평가 점수와 교차 검증 가능.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21040" y="5486400"/>
            <a:ext cx="3154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321040" y="56235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지표 — 부정 후기 탐지부터 내부 공유까지의 소요시간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ABC 정형외과 환자 후기 AI 분류·분석  ·  윤상훈  ·  Sample for SEMA Consulting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LIMITATION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분석의 한계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신입 연구원 지원자로서 정직하게 짚어두어야 할 한계 4가지입니다.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39496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468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데이터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88036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100건 후기는 실제 ABC 정형외과(가상 의원)의 데이터가 아니며, 정형외과 일반 후기 패턴을 참고해 직접 생성한 가상 시나리오입니다. 실제 분포는 다를 수 있습니다.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39496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3796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78040" y="2468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 편향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78040" y="288036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100건은 6개월간 외래 약 14,400건 중 0.7%로, 표본 크기가 작습니다. 또한 후기 작성자는 매우 만족 또는 매우 불만인 적극적 환자에 편중될 가능성이 있어 침묵하는 다수의 의견이 누락됩니다.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539496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4480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480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시점 분석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489204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6개월을 한 묶음으로 분석했으나 시계열 변화(계절성, 직원 교체 시점, 광고 캠페인 영향 등)는 반영되지 않았습니다. 실제 도입 시 월별·분기별 시계열 분석이 추가되어야 합니다.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4297680"/>
            <a:ext cx="539496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37960" y="4480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78040" y="4480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분류 자체의 오차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78040" y="489204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검증 일치율 88%는 12% 오분류를 의미합니다. 특히 감성 모호 케이스("좋긴 한데…")와 다중 카테고리 후기는 AI 단독 분류가 약합니다. 부정 후기는 수동 재검토가 안전합니다.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ABC 정형외과 환자 후기 AI 분류·분석  ·  윤상훈  ·  Sample for SEMA Consulting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NEXT STEPS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도입 시 추가 분석 방향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세마컨설팅 PEI 솔루션과 결합 시 가능한 4가지 확장 분석 영역입니다.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39496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2514600"/>
            <a:ext cx="640080" cy="64008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560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 솔루션 데이터와 결합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30632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후기(네이버·카카오)와 PEI 모바일 환자경험평가 점수를 교차 분석. 두 채널 점수 격차가 큰 병원이 어떤 패턴을 보이는지 분석.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539496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37960" y="2514600"/>
            <a:ext cx="640080" cy="64008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0" y="2560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 분석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0" y="30632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부정 후기 비율 변화 트래킹. 직원 교체·광고 캠페인·계절성 같은 외부 변수와의 상관 분석.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539496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85800" y="4526280"/>
            <a:ext cx="640080" cy="64008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580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572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진료과·서비스별 비교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507492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정형외과 내에서도 척추 vs 관절 vs 도수치료 환자군의 후기 패턴 차이 분석. 도수치료가 비용 부정 후기의 주된 원천인지 검증.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4297680"/>
            <a:ext cx="539496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37960" y="4526280"/>
            <a:ext cx="640080" cy="64008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3796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0" y="4572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규모 병원 벤치마킹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507492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세마가 보유한 동일 규모 (개원 5년차, 외래 80명/일) 정형외과 의원과의 비교 가능성을 검토.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ABC 정형외과 환자 후기 AI 분류·분석  ·  윤상훈  ·  Sample for SEMA Consulting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분류 프롬프트 + 검증 방법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 가능한 형태로 분류 흐름을 기록했습니다. 실제 데이터 도입 시 이 골격이 출발점이 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6858000" cy="3931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24231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분류 프롬프트  (Claude Opus 4.7)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6492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[역할]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정형외과 의원의 환자 후기를 분류하는 분석가입니다.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[분류 카테고리]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1.의료진 응대  2.직원 응대  3.진료 효과  4.대기 시간
5.시설/환경  6.비용/보험  7.예약/접수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[감성 라벨]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부정 / 중립 / 긍정 (3단계)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[출력 형식 — JSON]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"categories": ["대기 시간", "직원 응대"],
  "sentiments": {"대기 시간": "부정", "직원 응대": "부정"},
  "keywords": ["예약 무의미", "안내 부재"],
  "revisit_intent": "negative" }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[규칙] 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 후기 = 다중 카테고리 가능 / 재방문 의향 미명시 = unclear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0" y="2286000"/>
            <a:ext cx="4114800" cy="39319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 검증 방법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27432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무작위 표본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100건 중 20건 random sampling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수동 라벨링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 안 보고 직접 라벨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일치율 측정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17/20 = 85%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 18/20 = 90%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오분류 패턴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카테고리 케이스에서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1개만 잡는 경향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보완 방법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부정 후기는 100% 수동 재검토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ABC 정형외과 환자 후기 AI 분류·분석  ·  윤상훈  ·  Sample for SEMA Consulting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가상 ABC 정형외과 환자 후기 AI 분류·분석 · Sample for SEMA Consulting</dc:title>
  <dc:subject>병원경영 CS 연구원 지원용 가상 시나리오 분석 보고서</dc:subject>
  <dc:creator>Sanghoon Yoon</dc:creator>
  <cp:lastModifiedBy>Sanghoon Yoon</cp:lastModifiedBy>
  <cp:revision>1</cp:revision>
  <dcterms:created xsi:type="dcterms:W3CDTF">2026-04-27T07:05:46Z</dcterms:created>
  <dcterms:modified xsi:type="dcterms:W3CDTF">2026-04-27T07:05:46Z</dcterms:modified>
</cp:coreProperties>
</file>